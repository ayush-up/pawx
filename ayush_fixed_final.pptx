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5029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4800" b="1">
                <a:solidFill>
                  <a:srgbClr val="8B5CF6"/>
                </a:solidFill>
              </a:defRPr>
            </a:pPr>
            <a:r>
              <a:t>INTERNET GOVERNANCE</a:t>
            </a:r>
          </a:p>
          <a:p>
            <a:pPr>
              <a:defRPr sz="2200">
                <a:solidFill>
                  <a:srgbClr val="F3F4F6"/>
                </a:solidFill>
              </a:defRPr>
            </a:pPr>
            <a:r>
              <a:t>Managing the Global Digital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solidFill>
                  <a:srgbClr val="F3F4F6"/>
                </a:solidFill>
              </a:defRPr>
            </a:pPr>
            <a:r>
              <a:t>Name: Khunt Ayush P.</a:t>
            </a:r>
            <a:br/>
            <a:r>
              <a:t>Enroll No: 23ss02it094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645920"/>
            <a:ext cx="32004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029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8B5CF6"/>
                </a:solidFill>
              </a:defRPr>
            </a:pPr>
            <a: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500"/>
              </a:spcAft>
              <a:defRPr sz="2000">
                <a:solidFill>
                  <a:srgbClr val="F3F4F6"/>
                </a:solidFill>
              </a:defRPr>
            </a:pPr>
            <a:r>
              <a:t>• Rules and policies shaping the internet.</a:t>
            </a:r>
          </a:p>
          <a:p>
            <a:pPr>
              <a:spcAft>
                <a:spcPts val="1500"/>
              </a:spcAft>
              <a:defRPr sz="2000">
                <a:solidFill>
                  <a:srgbClr val="F3F4F6"/>
                </a:solidFill>
              </a:defRPr>
            </a:pPr>
            <a:r>
              <a:t>• Multiple stakeholders involved.</a:t>
            </a:r>
          </a:p>
          <a:p>
            <a:pPr>
              <a:spcAft>
                <a:spcPts val="1500"/>
              </a:spcAft>
              <a:defRPr sz="2000">
                <a:solidFill>
                  <a:srgbClr val="F3F4F6"/>
                </a:solidFill>
              </a:defRPr>
            </a:pPr>
            <a:r>
              <a:t>• Ensures a secure and open network.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029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8B5CF6"/>
                </a:solidFill>
              </a:defRPr>
            </a:pPr>
            <a:r>
              <a:t>Why It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500"/>
              </a:spcAft>
              <a:defRPr sz="2000">
                <a:solidFill>
                  <a:srgbClr val="F3F4F6"/>
                </a:solidFill>
              </a:defRPr>
            </a:pPr>
            <a:r>
              <a:t>• Maintains privacy and security.</a:t>
            </a:r>
          </a:p>
          <a:p>
            <a:pPr>
              <a:spcAft>
                <a:spcPts val="1500"/>
              </a:spcAft>
              <a:defRPr sz="2000">
                <a:solidFill>
                  <a:srgbClr val="F3F4F6"/>
                </a:solidFill>
              </a:defRPr>
            </a:pPr>
            <a:r>
              <a:t>• Promotes freedom of expression.</a:t>
            </a:r>
          </a:p>
          <a:p>
            <a:pPr>
              <a:spcAft>
                <a:spcPts val="1500"/>
              </a:spcAft>
              <a:defRPr sz="2000">
                <a:solidFill>
                  <a:srgbClr val="F3F4F6"/>
                </a:solidFill>
              </a:defRPr>
            </a:pPr>
            <a:r>
              <a:t>• Helps manage cybercrime threats.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029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8B5CF6"/>
                </a:solidFill>
              </a:defRPr>
            </a:pPr>
            <a:r>
              <a:t>Key Stakeholders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500"/>
              </a:spcAft>
              <a:defRPr sz="2000">
                <a:solidFill>
                  <a:srgbClr val="F3F4F6"/>
                </a:solidFill>
              </a:defRPr>
            </a:pPr>
            <a:r>
              <a:t>• Governments: Create regulations.</a:t>
            </a:r>
          </a:p>
          <a:p>
            <a:pPr>
              <a:spcAft>
                <a:spcPts val="1500"/>
              </a:spcAft>
              <a:defRPr sz="2000">
                <a:solidFill>
                  <a:srgbClr val="F3F4F6"/>
                </a:solidFill>
              </a:defRPr>
            </a:pPr>
            <a:r>
              <a:t>• Private Sector: Tech companies.</a:t>
            </a:r>
          </a:p>
          <a:p>
            <a:pPr>
              <a:spcAft>
                <a:spcPts val="1500"/>
              </a:spcAft>
              <a:defRPr sz="2000">
                <a:solidFill>
                  <a:srgbClr val="F3F4F6"/>
                </a:solidFill>
              </a:defRPr>
            </a:pPr>
            <a:r>
              <a:t>• Technical Community: Engineers.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029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8B5CF6"/>
                </a:solidFill>
              </a:defRPr>
            </a:pPr>
            <a:r>
              <a:t>Core Principles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500"/>
              </a:spcAft>
              <a:defRPr sz="2000">
                <a:solidFill>
                  <a:srgbClr val="F3F4F6"/>
                </a:solidFill>
              </a:defRPr>
            </a:pPr>
            <a:r>
              <a:t>• Openness: Free flow of info.</a:t>
            </a:r>
          </a:p>
          <a:p>
            <a:pPr>
              <a:spcAft>
                <a:spcPts val="1500"/>
              </a:spcAft>
              <a:defRPr sz="2000">
                <a:solidFill>
                  <a:srgbClr val="F3F4F6"/>
                </a:solidFill>
              </a:defRPr>
            </a:pPr>
            <a:r>
              <a:t>• Security: Threat protection.</a:t>
            </a:r>
          </a:p>
          <a:p>
            <a:pPr>
              <a:spcAft>
                <a:spcPts val="1500"/>
              </a:spcAft>
              <a:defRPr sz="2000">
                <a:solidFill>
                  <a:srgbClr val="F3F4F6"/>
                </a:solidFill>
              </a:defRPr>
            </a:pPr>
            <a:r>
              <a:t>• Stability: Reliable infrastructure.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029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8B5CF6"/>
                </a:solidFill>
              </a:defRPr>
            </a:pPr>
            <a:r>
              <a:t>Major Organizations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500"/>
              </a:spcAft>
              <a:defRPr sz="2000">
                <a:solidFill>
                  <a:srgbClr val="F3F4F6"/>
                </a:solidFill>
              </a:defRPr>
            </a:pPr>
            <a:r>
              <a:t>• ICANN: Domain names and IPs.</a:t>
            </a:r>
          </a:p>
          <a:p>
            <a:pPr>
              <a:spcAft>
                <a:spcPts val="1500"/>
              </a:spcAft>
              <a:defRPr sz="2000">
                <a:solidFill>
                  <a:srgbClr val="F3F4F6"/>
                </a:solidFill>
              </a:defRPr>
            </a:pPr>
            <a:r>
              <a:t>• ITU: Telecom standards.</a:t>
            </a:r>
          </a:p>
          <a:p>
            <a:pPr>
              <a:spcAft>
                <a:spcPts val="1500"/>
              </a:spcAft>
              <a:defRPr sz="2000">
                <a:solidFill>
                  <a:srgbClr val="F3F4F6"/>
                </a:solidFill>
              </a:defRPr>
            </a:pPr>
            <a:r>
              <a:t>• IGF: Global discussion forum.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029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8B5CF6"/>
                </a:solidFill>
              </a:defRPr>
            </a:pPr>
            <a:r>
              <a:t>Governance Issues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500"/>
              </a:spcAft>
              <a:defRPr sz="2000">
                <a:solidFill>
                  <a:srgbClr val="F3F4F6"/>
                </a:solidFill>
              </a:defRPr>
            </a:pPr>
            <a:r>
              <a:t>• Cybersecurity threats.</a:t>
            </a:r>
          </a:p>
          <a:p>
            <a:pPr>
              <a:spcAft>
                <a:spcPts val="1500"/>
              </a:spcAft>
              <a:defRPr sz="2000">
                <a:solidFill>
                  <a:srgbClr val="F3F4F6"/>
                </a:solidFill>
              </a:defRPr>
            </a:pPr>
            <a:r>
              <a:t>• Data privacy concerns.</a:t>
            </a:r>
          </a:p>
          <a:p>
            <a:pPr>
              <a:spcAft>
                <a:spcPts val="1500"/>
              </a:spcAft>
              <a:defRPr sz="2000">
                <a:solidFill>
                  <a:srgbClr val="F3F4F6"/>
                </a:solidFill>
              </a:defRPr>
            </a:pPr>
            <a:r>
              <a:t>• Digital divide and censorship.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029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8B5CF6"/>
                </a:solidFill>
              </a:defRPr>
            </a:pPr>
            <a:r>
              <a:t>Privacy &amp;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500"/>
              </a:spcAft>
              <a:defRPr sz="2000">
                <a:solidFill>
                  <a:srgbClr val="F3F4F6"/>
                </a:solidFill>
              </a:defRPr>
            </a:pPr>
            <a:r>
              <a:t>• Protection of personal data.</a:t>
            </a:r>
          </a:p>
          <a:p>
            <a:pPr>
              <a:spcAft>
                <a:spcPts val="1500"/>
              </a:spcAft>
              <a:defRPr sz="2000">
                <a:solidFill>
                  <a:srgbClr val="F3F4F6"/>
                </a:solidFill>
              </a:defRPr>
            </a:pPr>
            <a:r>
              <a:t>• GDPR and data regulations.</a:t>
            </a:r>
          </a:p>
          <a:p>
            <a:pPr>
              <a:spcAft>
                <a:spcPts val="1500"/>
              </a:spcAft>
              <a:defRPr sz="2000">
                <a:solidFill>
                  <a:srgbClr val="F3F4F6"/>
                </a:solidFill>
              </a:defRPr>
            </a:pPr>
            <a:r>
              <a:t>• Rise in hacking and phishing.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029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8B5CF6"/>
                </a:solidFill>
              </a:defRPr>
            </a:pPr>
            <a:r>
              <a:t>The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500"/>
              </a:spcAft>
              <a:defRPr sz="2000">
                <a:solidFill>
                  <a:srgbClr val="F3F4F6"/>
                </a:solidFill>
              </a:defRPr>
            </a:pPr>
            <a:r>
              <a:t>• Growing role of AI.</a:t>
            </a:r>
          </a:p>
          <a:p>
            <a:pPr>
              <a:spcAft>
                <a:spcPts val="1500"/>
              </a:spcAft>
              <a:defRPr sz="2000">
                <a:solidFill>
                  <a:srgbClr val="F3F4F6"/>
                </a:solidFill>
              </a:defRPr>
            </a:pPr>
            <a:r>
              <a:t>• Global digital rights focus.</a:t>
            </a:r>
          </a:p>
          <a:p>
            <a:pPr>
              <a:spcAft>
                <a:spcPts val="1500"/>
              </a:spcAft>
              <a:defRPr sz="2000">
                <a:solidFill>
                  <a:srgbClr val="F3F4F6"/>
                </a:solidFill>
              </a:defRPr>
            </a:pPr>
            <a:r>
              <a:t>• Expanding worldwide access.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029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8B5CF6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500"/>
              </a:spcAft>
              <a:defRPr sz="2000">
                <a:solidFill>
                  <a:srgbClr val="F3F4F6"/>
                </a:solidFill>
              </a:defRPr>
            </a:pPr>
            <a:r>
              <a:t>• Ensures a safe digital world.</a:t>
            </a:r>
          </a:p>
          <a:p>
            <a:pPr>
              <a:spcAft>
                <a:spcPts val="1500"/>
              </a:spcAft>
              <a:defRPr sz="2000">
                <a:solidFill>
                  <a:srgbClr val="F3F4F6"/>
                </a:solidFill>
              </a:defRPr>
            </a:pPr>
            <a:r>
              <a:t>• Requires multi-stakeholder effort.</a:t>
            </a:r>
          </a:p>
          <a:p>
            <a:pPr>
              <a:spcAft>
                <a:spcPts val="1500"/>
              </a:spcAft>
              <a:defRPr sz="2000">
                <a:solidFill>
                  <a:srgbClr val="F3F4F6"/>
                </a:solidFill>
              </a:defRPr>
            </a:pPr>
            <a:r>
              <a:t>• Essential for communication.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286000"/>
            <a:ext cx="9144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6400" b="1">
                <a:solidFill>
                  <a:srgbClr val="8B5CF6"/>
                </a:solidFill>
              </a:defRPr>
            </a:pPr>
            <a:r>
              <a:t>Thank You</a:t>
            </a:r>
          </a:p>
          <a:p>
            <a:pPr algn="ctr">
              <a:defRPr sz="2200">
                <a:solidFill>
                  <a:srgbClr val="F3F4F6"/>
                </a:solidFill>
              </a:defRPr>
            </a:pPr>
            <a:r>
              <a:t>Any Questions?</a:t>
            </a:r>
            <a:br/>
            <a:r>
              <a:t>Khunt Ayush P. | 23ss02it094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